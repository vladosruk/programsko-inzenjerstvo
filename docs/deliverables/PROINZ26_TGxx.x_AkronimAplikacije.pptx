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6"/>
  </p:notesMasterIdLst>
  <p:sldIdLst>
    <p:sldId id="265" r:id="rId2"/>
    <p:sldId id="267" r:id="rId3"/>
    <p:sldId id="268" r:id="rId4"/>
    <p:sldId id="259" r:id="rId5"/>
    <p:sldId id="269" r:id="rId6"/>
    <p:sldId id="261" r:id="rId7"/>
    <p:sldId id="277" r:id="rId8"/>
    <p:sldId id="260" r:id="rId9"/>
    <p:sldId id="275" r:id="rId10"/>
    <p:sldId id="278" r:id="rId11"/>
    <p:sldId id="276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D27B1-CEFA-4751-AC48-6C552D42790D}" v="2" dt="2026-10-02T11:12:52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05" autoAdjust="0"/>
    <p:restoredTop sz="80424" autoAdjust="0"/>
  </p:normalViewPr>
  <p:slideViewPr>
    <p:cSldViewPr snapToGrid="0">
      <p:cViewPr varScale="1">
        <p:scale>
          <a:sx n="104" d="100"/>
          <a:sy n="104" d="100"/>
        </p:scale>
        <p:origin x="666" y="144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lado Sruk" userId="24b93fb1-7cd8-4b3e-b1ea-2162d03c03bd" providerId="ADAL" clId="{3B0A4F3F-290E-4D41-8D81-A94C1ACD1D13}"/>
    <pc:docChg chg="modMainMaster">
      <pc:chgData name="Vlado Sruk" userId="24b93fb1-7cd8-4b3e-b1ea-2162d03c03bd" providerId="ADAL" clId="{3B0A4F3F-290E-4D41-8D81-A94C1ACD1D13}" dt="2026-10-02T11:12:52.062" v="1" actId="478"/>
      <pc:docMkLst>
        <pc:docMk/>
      </pc:docMkLst>
      <pc:sldMasterChg chg="modSldLayout">
        <pc:chgData name="Vlado Sruk" userId="24b93fb1-7cd8-4b3e-b1ea-2162d03c03bd" providerId="ADAL" clId="{3B0A4F3F-290E-4D41-8D81-A94C1ACD1D13}" dt="2026-10-02T11:12:52.062" v="1" actId="478"/>
        <pc:sldMasterMkLst>
          <pc:docMk/>
          <pc:sldMasterMk cId="2046101089" sldId="2147483732"/>
        </pc:sldMasterMkLst>
        <pc:sldLayoutChg chg="delSp">
          <pc:chgData name="Vlado Sruk" userId="24b93fb1-7cd8-4b3e-b1ea-2162d03c03bd" providerId="ADAL" clId="{3B0A4F3F-290E-4D41-8D81-A94C1ACD1D13}" dt="2026-10-02T11:12:52.062" v="1" actId="478"/>
          <pc:sldLayoutMkLst>
            <pc:docMk/>
            <pc:sldMasterMk cId="2046101089" sldId="2147483732"/>
            <pc:sldLayoutMk cId="3621208668" sldId="2147483733"/>
          </pc:sldLayoutMkLst>
          <pc:picChg chg="del">
            <ac:chgData name="Vlado Sruk" userId="24b93fb1-7cd8-4b3e-b1ea-2162d03c03bd" providerId="ADAL" clId="{3B0A4F3F-290E-4D41-8D81-A94C1ACD1D13}" dt="2026-10-02T11:12:44.774" v="0" actId="478"/>
            <ac:picMkLst>
              <pc:docMk/>
              <pc:sldMasterMk cId="2046101089" sldId="2147483732"/>
              <pc:sldLayoutMk cId="3621208668" sldId="2147483733"/>
              <ac:picMk id="6" creationId="{85944A3E-639A-0F85-20AF-51E538C40F27}"/>
            </ac:picMkLst>
          </pc:picChg>
          <pc:picChg chg="del">
            <ac:chgData name="Vlado Sruk" userId="24b93fb1-7cd8-4b3e-b1ea-2162d03c03bd" providerId="ADAL" clId="{3B0A4F3F-290E-4D41-8D81-A94C1ACD1D13}" dt="2026-10-02T11:12:52.062" v="1" actId="478"/>
            <ac:picMkLst>
              <pc:docMk/>
              <pc:sldMasterMk cId="2046101089" sldId="2147483732"/>
              <pc:sldLayoutMk cId="3621208668" sldId="2147483733"/>
              <ac:picMk id="10" creationId="{DEF508F6-8ABB-5749-BAE7-79BD82F1359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2.10.2026.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Ukratko predstavite članove tima i njihove glavne odgovornosti. Detaljniju raspodjelu rada i stvarne doprinose prikažite kasnije.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ideje, te objasnite problem, cilj aplikacije i granice projekta. Fokusirajte se na ono što je stvarno razvijeno. </a:t>
            </a:r>
          </a:p>
          <a:p>
            <a:r>
              <a:rPr lang="hr-HR" dirty="0"/>
              <a:t>Ne nabrajajte još zahtjeve i tehničko rješenje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r-HR" dirty="0"/>
              <a:t>3–5 najvažnijih funkcijskih zahtjeva</a:t>
            </a:r>
          </a:p>
          <a:p>
            <a:pPr lvl="0"/>
            <a:r>
              <a:rPr lang="hr-HR" dirty="0"/>
              <a:t>najviše 1–2 </a:t>
            </a:r>
            <a:r>
              <a:rPr lang="hr-HR" dirty="0" err="1"/>
              <a:t>nefunkcijska</a:t>
            </a:r>
            <a:r>
              <a:rPr lang="hr-HR" dirty="0"/>
              <a:t> zahtjeva ako bitno određuju rješenje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b="0" dirty="0"/>
              <a:t>Glavni akteri i ciljevi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0753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0" dirty="0"/>
              <a:t>jedan dijagram obrazaca uporabe cijelog sustava, na visokoj razini</a:t>
            </a:r>
            <a:br>
              <a:rPr lang="hr-HR" b="0" dirty="0"/>
            </a:br>
            <a:endParaRPr lang="hr-H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447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0" dirty="0"/>
              <a:t>Glavna arhitektura sustava - jedan čitljiv UML dijagram komponenata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r-HR" b="0" dirty="0"/>
              <a:t>glavne komponente i njihove odgovornosti - Koji su glavni dijelovi sustava i kako međusobno surađuju?</a:t>
            </a:r>
          </a:p>
          <a:p>
            <a:pPr lvl="0"/>
            <a:endParaRPr lang="hr-HR" dirty="0"/>
          </a:p>
          <a:p>
            <a:r>
              <a:rPr lang="hr-HR" b="0" dirty="0"/>
              <a:t>Ključne odluke oblikovanja</a:t>
            </a:r>
          </a:p>
          <a:p>
            <a:pPr lvl="0"/>
            <a:r>
              <a:rPr lang="hr-HR" dirty="0"/>
              <a:t>1–2 odluke koje su stvarno utjecale na implementaciju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966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 potrebi koristite ovaj slajd samo ako </a:t>
            </a:r>
            <a:r>
              <a:rPr lang="hr-HR" b="0" dirty="0"/>
              <a:t>dodatni ER ili UML dijagram </a:t>
            </a:r>
            <a:r>
              <a:rPr lang="hr-HR" dirty="0"/>
              <a:t>pomaže objasniti važan tehnički dio rješenja koji nije vidljiv iz dijagrama komponenata. </a:t>
            </a:r>
            <a:br>
              <a:rPr lang="hr-HR" dirty="0"/>
            </a:br>
            <a:r>
              <a:rPr lang="hr-HR" dirty="0"/>
              <a:t>Odaberite dijagram koji najbolje prikazuje unutarnju strukturu ili ponašanje sustava te ukratko objasnite </a:t>
            </a:r>
            <a:r>
              <a:rPr lang="hr-HR" b="1" dirty="0"/>
              <a:t>što prikazuje i zašto je taj aspekt važan za projekt</a:t>
            </a:r>
            <a:r>
              <a:rPr lang="hr-HR" dirty="0"/>
              <a:t>. </a:t>
            </a:r>
          </a:p>
          <a:p>
            <a:r>
              <a:rPr lang="hr-HR" dirty="0"/>
              <a:t>Ne uključujte dijagram samo zato što postoji u projektnoj dokumentaciji.</a:t>
            </a:r>
            <a:endParaRPr lang="hr-HR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915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kako ste provjerili najvažnije funkcionalnosti i svojstva sustava. </a:t>
            </a:r>
          </a:p>
          <a:p>
            <a:r>
              <a:rPr lang="hr-HR" dirty="0"/>
              <a:t>Odaberite nekoliko reprezentativnih ispitnih slučajeva i navedite </a:t>
            </a:r>
            <a:r>
              <a:rPr lang="hr-HR" b="1" dirty="0"/>
              <a:t>stvarne rezultate izvođenja</a:t>
            </a:r>
            <a:r>
              <a:rPr lang="hr-HR" dirty="0"/>
              <a:t>,</a:t>
            </a:r>
            <a:br>
              <a:rPr lang="hr-HR" dirty="0"/>
            </a:br>
            <a:r>
              <a:rPr lang="hr-HR" dirty="0"/>
              <a:t>Povežite rezultate s ključnim zahtjevima sustava.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97943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Za one koji prezentiraju</a:t>
            </a:r>
            <a:br>
              <a:rPr lang="hr-HR" dirty="0"/>
            </a:br>
            <a:r>
              <a:rPr lang="hr-HR" dirty="0"/>
              <a:t>Ne prolazite kroz svaki ekran i ne demonstrirajte svaku pojedinačnu funkcionalnost.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03734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Razlikujte </a:t>
            </a:r>
            <a:r>
              <a:rPr lang="hr-HR" b="1" dirty="0"/>
              <a:t>dovršeno, djelomično ostvareno i neostvareno</a:t>
            </a:r>
            <a:r>
              <a:rPr lang="hr-HR" dirty="0"/>
              <a:t>. </a:t>
            </a:r>
          </a:p>
          <a:p>
            <a:r>
              <a:rPr lang="hr-HR" dirty="0"/>
              <a:t>Navedite najvažnija ograničenja koja utječu na funkcionalnost, kvalitetu, sigurnost, pouzdanost ili primjenjivost sustava. </a:t>
            </a:r>
            <a:br>
              <a:rPr lang="hr-HR" dirty="0"/>
            </a:br>
            <a:r>
              <a:rPr lang="hr-HR" dirty="0"/>
              <a:t>Ne predstavljajte planirane funkcionalnosti kao ostvarene.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96724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Ukratko objasnite kako ste organizirali timski rad i raspodijelili odgovornosti. Istaknite jednu ili dvije situacije u kojima ste morali prilagoditi plan, preraspodijeliti zadatke ili riješiti problem suradnje. Pokažite stvarne doprinose članova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30106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0" dirty="0"/>
              <a:t>što je tim postigao i što je iz projekta naučio, a ne ponavljati opis aplikacije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11856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99E1DAB-EDD3-47ED-6BCC-FC07EE3C9B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hr-HR" sz="1013">
              <a:latin typeface="+mj-lt"/>
            </a:endParaRPr>
          </a:p>
        </p:txBody>
      </p:sp>
      <p:pic>
        <p:nvPicPr>
          <p:cNvPr id="9" name="FER">
            <a:extLst>
              <a:ext uri="{FF2B5EF4-FFF2-40B4-BE49-F238E27FC236}">
                <a16:creationId xmlns:a16="http://schemas.microsoft.com/office/drawing/2014/main" id="{21BAE254-CCD8-F1A5-647E-B67E11F68C5B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967" y="359995"/>
            <a:ext cx="1078521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8F0C7B7B-ED32-2079-BC47-5146BD9F36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51811" y="6046242"/>
            <a:ext cx="3084296" cy="51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hr-HR" sz="1600" dirty="0">
                <a:solidFill>
                  <a:srgbClr val="1F2933"/>
                </a:solidFill>
                <a:latin typeface="+mn-lt"/>
                <a:ea typeface="Arial" pitchFamily="34" charset="-122"/>
                <a:cs typeface="Arial" panose="020B0604020202020204" pitchFamily="34" charset="0"/>
              </a:rPr>
              <a:t>Sveučilište u Zagrebu</a:t>
            </a:r>
            <a:endParaRPr lang="hr-HR" sz="1600" dirty="0">
              <a:latin typeface="+mn-lt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hr-HR" sz="1600" dirty="0">
                <a:solidFill>
                  <a:srgbClr val="1F2933"/>
                </a:solidFill>
                <a:latin typeface="+mn-lt"/>
                <a:ea typeface="Arial" pitchFamily="34" charset="-122"/>
                <a:cs typeface="Arial" panose="020B0604020202020204" pitchFamily="34" charset="0"/>
              </a:rPr>
              <a:t>Fakultet elektrotehnike i računarstva</a:t>
            </a:r>
            <a:endParaRPr lang="hr-HR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CEEB06EC-0473-FF3C-FEE1-D83E535772D8}"/>
              </a:ext>
            </a:extLst>
          </p:cNvPr>
          <p:cNvSpPr/>
          <p:nvPr/>
        </p:nvSpPr>
        <p:spPr>
          <a:xfrm>
            <a:off x="6400800" y="5447893"/>
            <a:ext cx="2239200" cy="337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hr-HR" sz="900" dirty="0">
                <a:solidFill>
                  <a:srgbClr val="1F2933"/>
                </a:solidFill>
                <a:latin typeface="+mj-lt"/>
                <a:cs typeface="Arial" pitchFamily="34" charset="-120"/>
              </a:rPr>
              <a:t> </a:t>
            </a:r>
          </a:p>
        </p:txBody>
      </p:sp>
      <p:sp>
        <p:nvSpPr>
          <p:cNvPr id="3" name="Master Subtitle"/>
          <p:cNvSpPr>
            <a:spLocks noGrp="1"/>
          </p:cNvSpPr>
          <p:nvPr>
            <p:ph type="subTitle" idx="1"/>
          </p:nvPr>
        </p:nvSpPr>
        <p:spPr>
          <a:xfrm>
            <a:off x="810000" y="3060005"/>
            <a:ext cx="7830000" cy="2315931"/>
          </a:xfrm>
          <a:noFill/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ctr" defTabSz="514350" rtl="0" eaLnBrk="1" fontAlgn="auto" latinLnBrk="0" hangingPunct="1">
              <a:lnSpc>
                <a:spcPct val="90000"/>
              </a:lnSpc>
              <a:spcBef>
                <a:spcPts val="675"/>
              </a:spcBef>
              <a:spcAft>
                <a:spcPts val="113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tabLst/>
              <a:defRPr sz="1800" cap="all" spc="113" baseline="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 sz="1800"/>
            </a:lvl2pPr>
            <a:lvl3pPr marL="514350" indent="0" algn="ctr">
              <a:buNone/>
              <a:defRPr sz="1800"/>
            </a:lvl3pPr>
            <a:lvl4pPr marL="771525" indent="0" algn="ctr">
              <a:buNone/>
              <a:defRPr sz="1125"/>
            </a:lvl4pPr>
            <a:lvl5pPr marL="1028700" indent="0" algn="ctr">
              <a:buNone/>
              <a:defRPr sz="1125"/>
            </a:lvl5pPr>
            <a:lvl6pPr marL="1285875" indent="0" algn="ctr">
              <a:buNone/>
              <a:defRPr sz="1125"/>
            </a:lvl6pPr>
            <a:lvl7pPr marL="1543050" indent="0" algn="ctr">
              <a:buNone/>
              <a:defRPr sz="1125"/>
            </a:lvl7pPr>
            <a:lvl8pPr marL="1800225" indent="0" algn="ctr">
              <a:buNone/>
              <a:defRPr sz="1125"/>
            </a:lvl8pPr>
            <a:lvl9pPr marL="2057400" indent="0" algn="ctr">
              <a:buNone/>
              <a:defRPr sz="1125"/>
            </a:lvl9pPr>
          </a:lstStyle>
          <a:p>
            <a:pPr algn="ctr"/>
            <a:r>
              <a:rPr lang="en-US" dirty="0"/>
              <a:t>Click to edit Master subtitle style</a:t>
            </a:r>
            <a:endParaRPr lang="hr-HR" dirty="0"/>
          </a:p>
        </p:txBody>
      </p:sp>
      <p:sp>
        <p:nvSpPr>
          <p:cNvPr id="2" name="Master Title"/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810000" y="1080000"/>
            <a:ext cx="7830000" cy="1800000"/>
          </a:xfrm>
        </p:spPr>
        <p:txBody>
          <a:bodyPr anchor="ctr" anchorCtr="1">
            <a:normAutofit/>
          </a:bodyPr>
          <a:lstStyle>
            <a:lvl1pPr algn="l">
              <a:lnSpc>
                <a:spcPct val="85000"/>
              </a:lnSpc>
              <a:defRPr lang="en-US" sz="3200" b="1" kern="1200" dirty="0">
                <a:solidFill>
                  <a:srgbClr val="003366"/>
                </a:solidFill>
                <a:latin typeface="+mj-lt"/>
                <a:ea typeface="Arial" pitchFamily="34" charset="-122"/>
                <a:cs typeface="Arial" pitchFamily="34" charset="-120"/>
              </a:defRPr>
            </a:lvl1pPr>
          </a:lstStyle>
          <a:p>
            <a:r>
              <a:rPr lang="en-US" dirty="0"/>
              <a:t>Click to edit Master title style</a:t>
            </a:r>
            <a:endParaRPr lang="hr-HR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050E5E99-7A52-52B8-DCBC-CA5FE244AEF3}"/>
              </a:ext>
            </a:extLst>
          </p:cNvPr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hr-HR" sz="1013">
              <a:latin typeface="+mj-lt"/>
            </a:endParaRPr>
          </a:p>
        </p:txBody>
      </p:sp>
      <p:pic>
        <p:nvPicPr>
          <p:cNvPr id="11" name="FER">
            <a:extLst>
              <a:ext uri="{FF2B5EF4-FFF2-40B4-BE49-F238E27FC236}">
                <a16:creationId xmlns:a16="http://schemas.microsoft.com/office/drawing/2014/main" id="{9FE0F1BD-C2E1-EEB1-3DF8-DD9E05BBB82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967" y="359995"/>
            <a:ext cx="1078521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68E39AC7-F634-FABC-FB95-D7398ED73A9C}"/>
              </a:ext>
            </a:extLst>
          </p:cNvPr>
          <p:cNvSpPr/>
          <p:nvPr/>
        </p:nvSpPr>
        <p:spPr>
          <a:xfrm>
            <a:off x="3051811" y="6046242"/>
            <a:ext cx="3084296" cy="5191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hr-HR" sz="1600" dirty="0">
                <a:solidFill>
                  <a:srgbClr val="1F2933"/>
                </a:solidFill>
                <a:latin typeface="+mn-lt"/>
                <a:ea typeface="Arial" pitchFamily="34" charset="-122"/>
                <a:cs typeface="Arial" panose="020B0604020202020204" pitchFamily="34" charset="0"/>
              </a:rPr>
              <a:t>Sveučilište u Zagrebu</a:t>
            </a:r>
            <a:endParaRPr lang="hr-HR" sz="1600" dirty="0">
              <a:latin typeface="+mn-lt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hr-HR" sz="1600" dirty="0">
                <a:solidFill>
                  <a:srgbClr val="1F2933"/>
                </a:solidFill>
                <a:latin typeface="+mn-lt"/>
                <a:ea typeface="Arial" pitchFamily="34" charset="-122"/>
                <a:cs typeface="Arial" panose="020B0604020202020204" pitchFamily="34" charset="0"/>
              </a:rPr>
              <a:t>Fakultet elektrotehnike i računarstva</a:t>
            </a:r>
            <a:endParaRPr lang="hr-HR" sz="16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8F3E1C-4285-FF38-D93D-938D57FB555E}"/>
              </a:ext>
            </a:extLst>
          </p:cNvPr>
          <p:cNvSpPr txBox="1"/>
          <p:nvPr userDrawn="1"/>
        </p:nvSpPr>
        <p:spPr>
          <a:xfrm>
            <a:off x="2447161" y="2951957"/>
            <a:ext cx="42935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800" b="0" kern="1200" cap="small" noProof="0" dirty="0">
                <a:solidFill>
                  <a:srgbClr val="363636"/>
                </a:solidFill>
                <a:latin typeface="+mn-lt"/>
                <a:ea typeface="+mn-ea"/>
                <a:cs typeface="+mn-cs"/>
              </a:rPr>
              <a:t>Prezentacija</a:t>
            </a:r>
            <a:r>
              <a:rPr lang="hr-HR" sz="2800" noProof="0" dirty="0">
                <a:latin typeface="+mn-lt"/>
              </a:rPr>
              <a:t> </a:t>
            </a:r>
            <a:r>
              <a:rPr lang="hr-HR" sz="2800" b="0" kern="1200" cap="small" noProof="0" dirty="0">
                <a:solidFill>
                  <a:srgbClr val="363636"/>
                </a:solidFill>
                <a:latin typeface="+mn-lt"/>
                <a:ea typeface="+mn-ea"/>
                <a:cs typeface="+mn-cs"/>
              </a:rPr>
              <a:t>projekta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7983A8C7-F7B8-34AC-84D9-1B7CCEB3F40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572885-DDBB-1949-C9E2-2CBFCC261D30}"/>
              </a:ext>
            </a:extLst>
          </p:cNvPr>
          <p:cNvSpPr txBox="1"/>
          <p:nvPr userDrawn="1"/>
        </p:nvSpPr>
        <p:spPr>
          <a:xfrm>
            <a:off x="6472518" y="1130608"/>
            <a:ext cx="259772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1100" b="0" noProof="0" dirty="0">
                <a:latin typeface="Lato" panose="020F0502020204030203" pitchFamily="34" charset="0"/>
              </a:rPr>
              <a:t>Zavod za elektroniku, mikroelektroniku, računalne i inteligentne sustave</a:t>
            </a:r>
          </a:p>
        </p:txBody>
      </p:sp>
      <p:pic>
        <p:nvPicPr>
          <p:cNvPr id="22" name="Picture 21" descr="A colorful arrow with gears and icons&#10;&#10;AI-generated content may be incorrect.">
            <a:extLst>
              <a:ext uri="{FF2B5EF4-FFF2-40B4-BE49-F238E27FC236}">
                <a16:creationId xmlns:a16="http://schemas.microsoft.com/office/drawing/2014/main" id="{F8DBC973-BC92-DAC2-5563-3E763A5DF2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" y="-105919"/>
            <a:ext cx="1998838" cy="1998838"/>
          </a:xfrm>
          <a:prstGeom prst="rect">
            <a:avLst/>
          </a:prstGeom>
        </p:spPr>
      </p:pic>
      <p:sp>
        <p:nvSpPr>
          <p:cNvPr id="27" name="Course">
            <a:extLst>
              <a:ext uri="{FF2B5EF4-FFF2-40B4-BE49-F238E27FC236}">
                <a16:creationId xmlns:a16="http://schemas.microsoft.com/office/drawing/2014/main" id="{7A10F18B-2F4A-A7BB-5063-9B6A274860C7}"/>
              </a:ext>
            </a:extLst>
          </p:cNvPr>
          <p:cNvSpPr txBox="1"/>
          <p:nvPr userDrawn="1"/>
        </p:nvSpPr>
        <p:spPr>
          <a:xfrm>
            <a:off x="2545706" y="1533305"/>
            <a:ext cx="4171415" cy="1111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r-HR" sz="2800" b="0" cap="small" noProof="0" dirty="0">
                <a:solidFill>
                  <a:srgbClr val="363636"/>
                </a:solidFill>
                <a:latin typeface="+mn-lt"/>
              </a:rPr>
              <a:t>Programsko inženjerstvo</a:t>
            </a:r>
          </a:p>
          <a:p>
            <a:pPr algn="ctr">
              <a:lnSpc>
                <a:spcPct val="150000"/>
              </a:lnSpc>
            </a:pPr>
            <a:r>
              <a:rPr lang="en-US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 183400</a:t>
            </a:r>
            <a:endParaRPr lang="hr-H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20866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6F9DC86D-F5B1-3A28-4B2E-08524F2B18D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999" y="1080000"/>
            <a:ext cx="8496000" cy="51900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A9431-B2FD-CBDB-4BEC-8FCBB068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3BB20A4-B0AB-C015-C199-A7CF1390D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08000"/>
            <a:ext cx="72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hr-HR" sz="1000" dirty="0" smtClean="0">
                <a:solidFill>
                  <a:srgbClr val="5B6770"/>
                </a:solidFill>
                <a:ea typeface="Arial" pitchFamily="34" charset="-122"/>
                <a:cs typeface="Arial" pitchFamily="34" charset="-120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0C3642C-80EB-74FB-95AB-6B1F09DBD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95999" y="6409063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4155849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6F9DC86D-F5B1-3A28-4B2E-08524F2B18D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999" y="1080000"/>
            <a:ext cx="8496000" cy="51900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A9431-B2FD-CBDB-4BEC-8FCBB068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3BB20A4-B0AB-C015-C199-A7CF1390D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08000"/>
            <a:ext cx="72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hr-HR" sz="1000" dirty="0" smtClean="0">
                <a:solidFill>
                  <a:srgbClr val="5B6770"/>
                </a:solidFill>
                <a:ea typeface="Arial" pitchFamily="34" charset="-122"/>
                <a:cs typeface="Arial" pitchFamily="34" charset="-120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0C3642C-80EB-74FB-95AB-6B1F09DBD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95999" y="6409063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11660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6272170"/>
            <a:ext cx="9141619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7543800" cy="360000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3200" b="0">
                <a:solidFill>
                  <a:srgbClr val="0033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001" y="4453128"/>
            <a:ext cx="7489424" cy="1440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113" baseline="0">
                <a:solidFill>
                  <a:schemeClr val="tx2"/>
                </a:solidFill>
                <a:latin typeface="+mj-lt"/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F6FDB8-DCF2-1E72-BF73-4C3FE951C4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E02C238-87EB-9F83-A5B1-B5CF539A2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54320-18CA-1F3C-8D73-D8901C4A20E4}"/>
              </a:ext>
            </a:extLst>
          </p:cNvPr>
          <p:cNvSpPr/>
          <p:nvPr/>
        </p:nvSpPr>
        <p:spPr>
          <a:xfrm>
            <a:off x="14" y="6272170"/>
            <a:ext cx="9141619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81552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A1B2D2-8935-3E69-BF7B-7A8EA395A3C9}"/>
              </a:ext>
            </a:extLst>
          </p:cNvPr>
          <p:cNvSpPr/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BFB951-ADB5-DD66-D1E4-89139CAF65A5}"/>
              </a:ext>
            </a:extLst>
          </p:cNvPr>
          <p:cNvSpPr/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6FFD83-989C-D910-1CB5-AEEA7B59FD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A23CAE-F1DE-DD00-A962-85383C75A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0996" y="1080000"/>
            <a:ext cx="4140000" cy="5220000"/>
          </a:xfr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99" y="1080000"/>
            <a:ext cx="4140000" cy="5220000"/>
          </a:xfrm>
          <a:noFill/>
        </p:spPr>
        <p:txBody>
          <a:bodyPr/>
          <a:lstStyle>
            <a:lvl1pPr indent="-216000">
              <a:spcBef>
                <a:spcPts val="60"/>
              </a:spcBef>
              <a:spcAft>
                <a:spcPts val="110"/>
              </a:spcAft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rtlCol="0"/>
          <a:lstStyle>
            <a:lvl1pPr algn="l">
              <a:defRPr lang="en-US" dirty="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612C23-ADDE-57B1-CC0E-1EA3A2B4C2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52C2-DDD5-FC0E-2C50-7A5445BA5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492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A1B2D2-8935-3E69-BF7B-7A8EA395A3C9}"/>
              </a:ext>
            </a:extLst>
          </p:cNvPr>
          <p:cNvSpPr/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BFB951-ADB5-DD66-D1E4-89139CAF65A5}"/>
              </a:ext>
            </a:extLst>
          </p:cNvPr>
          <p:cNvSpPr/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6FFD83-989C-D910-1CB5-AEEA7B59FDFA}"/>
              </a:ext>
            </a:extLst>
          </p:cNvPr>
          <p:cNvSpPr>
            <a:spLocks/>
          </p:cNvSpPr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A23CAE-F1DE-DD00-A962-85383C75AD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90996" y="1080000"/>
            <a:ext cx="4140000" cy="5220000"/>
          </a:xfr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99" y="1080000"/>
            <a:ext cx="4140000" cy="5220000"/>
          </a:xfrm>
          <a:noFill/>
        </p:spPr>
        <p:txBody>
          <a:bodyPr/>
          <a:lstStyle>
            <a:lvl1pPr indent="-216000">
              <a:spcBef>
                <a:spcPts val="60"/>
              </a:spcBef>
              <a:spcAft>
                <a:spcPts val="110"/>
              </a:spcAft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rtlCol="0"/>
          <a:lstStyle>
            <a:lvl1pPr algn="l">
              <a:defRPr lang="en-US" dirty="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612C23-ADDE-57B1-CC0E-1EA3A2B4C2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52C2-DDD5-FC0E-2C50-7A5445BA5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93676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60/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6198" y="1080000"/>
            <a:ext cx="3184798" cy="5220000"/>
          </a:xfr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298" y="1080000"/>
            <a:ext cx="5179367" cy="5220000"/>
          </a:xfrm>
          <a:noFill/>
        </p:spPr>
        <p:txBody>
          <a:bodyPr/>
          <a:lstStyle>
            <a:lvl1pPr indent="-216000">
              <a:spcBef>
                <a:spcPts val="60"/>
              </a:spcBef>
              <a:spcAft>
                <a:spcPts val="110"/>
              </a:spcAft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rtlCol="0"/>
          <a:lstStyle>
            <a:lvl1pPr algn="l">
              <a:defRPr lang="en-US" dirty="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612C23-ADDE-57B1-CC0E-1EA3A2B4C2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52C2-DDD5-FC0E-2C50-7A5445BA5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12332768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3999" y="1046333"/>
            <a:ext cx="2772000" cy="5220000"/>
          </a:xfr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9999" y="1046333"/>
            <a:ext cx="2772000" cy="5220000"/>
          </a:xfrm>
          <a:noFill/>
        </p:spPr>
        <p:txBody>
          <a:bodyPr/>
          <a:lstStyle>
            <a:lvl1pPr indent="-216000">
              <a:spcBef>
                <a:spcPts val="60"/>
              </a:spcBef>
              <a:spcAft>
                <a:spcPts val="110"/>
              </a:spcAft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rtlCol="0"/>
          <a:lstStyle>
            <a:lvl1pPr algn="l">
              <a:defRPr lang="en-US" dirty="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612C23-ADDE-57B1-CC0E-1EA3A2B4C2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52C2-DDD5-FC0E-2C50-7A5445BA59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264E43B-DB2F-14A3-E882-B836A041BEA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47999" y="1046333"/>
            <a:ext cx="2772000" cy="5220000"/>
          </a:xfr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20079898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">
            <a:extLst>
              <a:ext uri="{FF2B5EF4-FFF2-40B4-BE49-F238E27FC236}">
                <a16:creationId xmlns:a16="http://schemas.microsoft.com/office/drawing/2014/main" id="{5DB6F34F-5F83-04E5-FE87-2B219241EEDA}"/>
              </a:ext>
            </a:extLst>
          </p:cNvPr>
          <p:cNvSpPr>
            <a:spLocks/>
          </p:cNvSpPr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51ED0401-812E-B11A-BB18-FA02C36F729A}"/>
              </a:ext>
            </a:extLst>
          </p:cNvPr>
          <p:cNvSpPr/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52FCC2D-A84D-EE47-6807-3144E1E6C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EAA0E1B4-89D9-A1BB-4E61-1360054A6B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8" name="Rectangle: Rounded Corners 2">
            <a:extLst>
              <a:ext uri="{FF2B5EF4-FFF2-40B4-BE49-F238E27FC236}">
                <a16:creationId xmlns:a16="http://schemas.microsoft.com/office/drawing/2014/main" id="{E7E39649-0BE3-21FE-2E4B-DD0F576F482B}"/>
              </a:ext>
            </a:extLst>
          </p:cNvPr>
          <p:cNvSpPr>
            <a:spLocks/>
          </p:cNvSpPr>
          <p:nvPr/>
        </p:nvSpPr>
        <p:spPr>
          <a:xfrm>
            <a:off x="4680000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11" name="Rectangle: Rounded Corners 1">
            <a:extLst>
              <a:ext uri="{FF2B5EF4-FFF2-40B4-BE49-F238E27FC236}">
                <a16:creationId xmlns:a16="http://schemas.microsoft.com/office/drawing/2014/main" id="{9F78926F-A202-4D8E-2918-86CA215BA3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99" y="972000"/>
            <a:ext cx="4140000" cy="5328000"/>
          </a:xfrm>
          <a:prstGeom prst="roundRect">
            <a:avLst>
              <a:gd name="adj" fmla="val 2892"/>
            </a:avLst>
          </a:prstGeom>
          <a:gradFill>
            <a:gsLst>
              <a:gs pos="0">
                <a:schemeClr val="accent1">
                  <a:tint val="100000"/>
                  <a:shade val="100000"/>
                  <a:satMod val="130000"/>
                  <a:alpha val="1000"/>
                </a:schemeClr>
              </a:gs>
              <a:gs pos="100000">
                <a:srgbClr val="FDFDFF"/>
              </a:gs>
              <a:gs pos="3000">
                <a:schemeClr val="bg1"/>
              </a:gs>
              <a:gs pos="2000">
                <a:schemeClr val="accent1">
                  <a:tint val="100000"/>
                  <a:shade val="100000"/>
                  <a:satMod val="130000"/>
                </a:schemeClr>
              </a:gs>
              <a:gs pos="0">
                <a:schemeClr val="accent1">
                  <a:tint val="50000"/>
                  <a:shade val="100000"/>
                  <a:satMod val="350000"/>
                </a:schemeClr>
              </a:gs>
            </a:gsLst>
            <a:lin ang="5400000" scaled="1"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38100" dist="25400" dir="2700000" algn="br" rotWithShape="0">
              <a:schemeClr val="bg2">
                <a:lumMod val="90000"/>
                <a:alpha val="60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4695709" y="2042148"/>
            <a:ext cx="4140000" cy="4257852"/>
          </a:xfrm>
          <a:noFill/>
        </p:spPr>
        <p:txBody>
          <a:bodyPr/>
          <a:lstStyle>
            <a:lvl1pPr indent="-216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5" name="Text Placeholder 2"/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4695709" y="1120804"/>
            <a:ext cx="4140000" cy="736282"/>
          </a:xfrm>
          <a:noFill/>
        </p:spPr>
        <p:txBody>
          <a:bodyPr lIns="91440" rIns="91440" anchor="t" anchorCtr="0">
            <a:no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257175" indent="0">
              <a:buNone/>
              <a:defRPr sz="1600" b="1"/>
            </a:lvl2pPr>
            <a:lvl3pPr marL="514350" indent="0">
              <a:buNone/>
              <a:defRPr sz="1200" b="1"/>
            </a:lvl3pPr>
            <a:lvl4pPr marL="771525" indent="0">
              <a:buNone/>
              <a:defRPr sz="1100" b="1"/>
            </a:lvl4pPr>
            <a:lvl5pPr marL="1028700" indent="0">
              <a:buNone/>
              <a:defRPr sz="11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4" name="Content Placeholder"/>
          <p:cNvSpPr>
            <a:spLocks noGrp="1"/>
          </p:cNvSpPr>
          <p:nvPr>
            <p:ph sz="half" idx="2"/>
          </p:nvPr>
        </p:nvSpPr>
        <p:spPr>
          <a:xfrm>
            <a:off x="374400" y="2066544"/>
            <a:ext cx="4140000" cy="4257852"/>
          </a:xfrm>
          <a:noFill/>
        </p:spPr>
        <p:txBody>
          <a:bodyPr/>
          <a:lstStyle>
            <a:lvl1pPr indent="-216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3" name="Text Placeholder"/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74400" y="1120804"/>
            <a:ext cx="4140000" cy="736282"/>
          </a:xfrm>
          <a:noFill/>
        </p:spPr>
        <p:txBody>
          <a:bodyPr lIns="91440" rIns="91440" anchor="t" anchorCtr="0">
            <a:no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257175" indent="0">
              <a:buNone/>
              <a:defRPr sz="1600" b="1"/>
            </a:lvl2pPr>
            <a:lvl3pPr marL="514350" indent="0">
              <a:buNone/>
              <a:defRPr sz="1200" b="1"/>
            </a:lvl3pPr>
            <a:lvl4pPr marL="771525" indent="0">
              <a:buNone/>
              <a:defRPr sz="1100" b="1"/>
            </a:lvl4pPr>
            <a:lvl5pPr marL="1028700" indent="0">
              <a:buNone/>
              <a:defRPr sz="11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10" name="Title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60000" y="180000"/>
            <a:ext cx="8496000" cy="720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9934740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179999"/>
            <a:ext cx="8496000" cy="72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0000" y="6408000"/>
            <a:ext cx="7272000" cy="365125"/>
          </a:xfrm>
          <a:prstGeom prst="rect">
            <a:avLst/>
          </a:prstGeom>
        </p:spPr>
        <p:txBody>
          <a:bodyPr/>
          <a:lstStyle>
            <a:lvl1pPr algn="l">
              <a:defRPr sz="10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76000" y="6408000"/>
            <a:ext cx="10800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16102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94FE9B-26B6-C05B-D1AF-2ABF476264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9B768-6F0E-7D0F-701F-8F839546D6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72399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230F-3569-F029-70AB-1232A8CC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5B031-51C2-0210-5F7E-2A2DF004D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D3684-CD97-D895-267C-1627C531F2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5" name="Vertical Text Placeholder 2">
            <a:extLst>
              <a:ext uri="{FF2B5EF4-FFF2-40B4-BE49-F238E27FC236}">
                <a16:creationId xmlns:a16="http://schemas.microsoft.com/office/drawing/2014/main" id="{CC4B1CFC-BB5C-B5B9-A026-459E718B3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0000" y="1079998"/>
            <a:ext cx="8496000" cy="5190085"/>
          </a:xfrm>
        </p:spPr>
        <p:txBody>
          <a:bodyPr vert="eaVert" lIns="45720" tIns="0" rIns="45720" bIns="0"/>
          <a:lstStyle>
            <a:lvl1pPr defTabSz="576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164750466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038093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4961" y="460268"/>
            <a:ext cx="5476139" cy="56582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6" name="Footer Placeholder 5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3324960" y="6397732"/>
            <a:ext cx="4713769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8680" y="6397732"/>
            <a:ext cx="722420" cy="3651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9911083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6F9DC86D-F5B1-3A28-4B2E-08524F2B18D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9999" y="1080000"/>
            <a:ext cx="8496000" cy="5190085"/>
          </a:xfrm>
          <a:prstGeom prst="rect">
            <a:avLst/>
          </a:prstGeom>
          <a:noFill/>
          <a:ln w="19050">
            <a:noFill/>
          </a:ln>
        </p:spPr>
        <p:txBody>
          <a:bodyPr wrap="square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A9431-B2FD-CBDB-4BEC-8FCBB0684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180000"/>
            <a:ext cx="8496000" cy="72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3BB20A4-B0AB-C015-C199-A7CF1390D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08000"/>
            <a:ext cx="720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hr-HR" sz="1000" dirty="0" smtClean="0">
                <a:solidFill>
                  <a:srgbClr val="5B6770"/>
                </a:solidFill>
                <a:ea typeface="Arial" pitchFamily="34" charset="-122"/>
                <a:cs typeface="Arial" pitchFamily="34" charset="-120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C0C3642C-80EB-74FB-95AB-6B1F09DBD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95999" y="6409063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7553789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230F-3569-F029-70AB-1232A8CC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5B031-51C2-0210-5F7E-2A2DF004D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D3684-CD97-D895-267C-1627C531F2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5" name="Vertical Text Placeholder 2">
            <a:extLst>
              <a:ext uri="{FF2B5EF4-FFF2-40B4-BE49-F238E27FC236}">
                <a16:creationId xmlns:a16="http://schemas.microsoft.com/office/drawing/2014/main" id="{CC4B1CFC-BB5C-B5B9-A026-459E718B3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60000" y="1079998"/>
            <a:ext cx="8496000" cy="5190085"/>
          </a:xfrm>
        </p:spPr>
        <p:txBody>
          <a:bodyPr vert="eaVert" lIns="45720" tIns="0" rIns="45720" bIns="0"/>
          <a:lstStyle>
            <a:lvl1pPr defTabSz="576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59909050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18" y="18288"/>
            <a:ext cx="8046720" cy="822960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hr-HR" noProof="0" dirty="0"/>
            </a:lvl1pPr>
          </a:lstStyle>
          <a:p>
            <a:pPr lvl="0"/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effectLst/>
              </a:defRPr>
            </a:lvl1pPr>
            <a:lvl2pPr>
              <a:defRPr sz="2000">
                <a:effectLst/>
              </a:defRPr>
            </a:lvl2pPr>
            <a:lvl3pPr>
              <a:defRPr sz="1800">
                <a:effectLst/>
              </a:defRPr>
            </a:lvl3pPr>
            <a:lvl4pPr>
              <a:defRPr sz="1600">
                <a:effectLst/>
              </a:defRPr>
            </a:lvl4pPr>
            <a:lvl5pPr>
              <a:defRPr sz="1600">
                <a:effectLst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Footer Placeholder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algn="ctr">
              <a:defRPr/>
            </a:lvl1pPr>
          </a:lstStyle>
          <a:p>
            <a:endParaRPr lang="hr-HR"/>
          </a:p>
        </p:txBody>
      </p:sp>
      <p:sp>
        <p:nvSpPr>
          <p:cNvPr id="6" name="Slide Number Placeholder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2776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Line 2">
            <a:extLst>
              <a:ext uri="{FF2B5EF4-FFF2-40B4-BE49-F238E27FC236}">
                <a16:creationId xmlns:a16="http://schemas.microsoft.com/office/drawing/2014/main" id="{E0A524F3-932F-168B-58DD-748214210969}"/>
              </a:ext>
            </a:extLst>
          </p:cNvPr>
          <p:cNvSpPr>
            <a:spLocks/>
          </p:cNvSpPr>
          <p:nvPr/>
        </p:nvSpPr>
        <p:spPr>
          <a:xfrm flipV="1">
            <a:off x="335079" y="6334347"/>
            <a:ext cx="8508130" cy="23253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 sz="1000" noProof="0" dirty="0">
              <a:latin typeface="+mn-lt"/>
            </a:endParaRPr>
          </a:p>
        </p:txBody>
      </p:sp>
      <p:sp>
        <p:nvSpPr>
          <p:cNvPr id="17" name="Shape Line 1">
            <a:extLst>
              <a:ext uri="{FF2B5EF4-FFF2-40B4-BE49-F238E27FC236}">
                <a16:creationId xmlns:a16="http://schemas.microsoft.com/office/drawing/2014/main" id="{3AEA795C-FC62-4268-9FC1-A340660CEC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44179" y="891122"/>
            <a:ext cx="8496000" cy="23253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 sz="1000" noProof="0" dirty="0">
              <a:latin typeface="+mn-lt"/>
            </a:endParaRPr>
          </a:p>
        </p:txBody>
      </p:sp>
      <p:sp>
        <p:nvSpPr>
          <p:cNvPr id="11" name="Shape Top">
            <a:extLst>
              <a:ext uri="{FF2B5EF4-FFF2-40B4-BE49-F238E27FC236}">
                <a16:creationId xmlns:a16="http://schemas.microsoft.com/office/drawing/2014/main" id="{4524D135-7B14-4962-930E-B2906890A1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" y="0"/>
            <a:ext cx="9143771" cy="32004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r-HR" sz="1013" noProof="0" dirty="0">
              <a:latin typeface="+mj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828A4014-4A5D-9A2F-735A-6B6E620C8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0001" y="6407997"/>
            <a:ext cx="11160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57E9CE6-B683-58B2-5786-EAE4ED2E7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999" y="6408000"/>
            <a:ext cx="72720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hr-HR" sz="1000" dirty="0" smtClean="0">
                <a:solidFill>
                  <a:srgbClr val="5B6770"/>
                </a:solidFill>
                <a:ea typeface="Arial" pitchFamily="34" charset="-122"/>
                <a:cs typeface="Arial" pitchFamily="34" charset="-120"/>
              </a:defRPr>
            </a:lvl1pPr>
          </a:lstStyle>
          <a:p>
            <a:endParaRPr lang="hr-HR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60000" y="1079998"/>
            <a:ext cx="8496000" cy="5190085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txBody>
          <a:bodyPr wrap="square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2" name="Title Placeholder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59999" y="180000"/>
            <a:ext cx="8496000" cy="720000"/>
          </a:xfrm>
          <a:prstGeom prst="rect">
            <a:avLst/>
          </a:prstGeom>
          <a:noFill/>
          <a:ln>
            <a:solidFill>
              <a:srgbClr val="FFFFFF">
                <a:alpha val="0"/>
              </a:srgbClr>
            </a:solidFill>
          </a:ln>
        </p:spPr>
        <p:txBody>
          <a:bodyPr wrap="square" tIns="72000" rtlCol="0"/>
          <a:lstStyle/>
          <a:p>
            <a:pPr lvl="0"/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6" name="Shape Line 1">
            <a:extLst>
              <a:ext uri="{FF2B5EF4-FFF2-40B4-BE49-F238E27FC236}">
                <a16:creationId xmlns:a16="http://schemas.microsoft.com/office/drawing/2014/main" id="{7B3E63DA-15D2-A76D-1C75-0853C4F32E68}"/>
              </a:ext>
            </a:extLst>
          </p:cNvPr>
          <p:cNvSpPr/>
          <p:nvPr/>
        </p:nvSpPr>
        <p:spPr>
          <a:xfrm flipV="1">
            <a:off x="344179" y="891122"/>
            <a:ext cx="8496000" cy="23253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hr-HR" sz="1000" noProof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610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  <p:hf hdr="0" ftr="0" dt="0"/>
  <p:txStyles>
    <p:titleStyle>
      <a:lvl1pPr marL="0" indent="0" algn="l" defTabSz="514350" rtl="0" eaLnBrk="1" latinLnBrk="0" hangingPunct="1">
        <a:lnSpc>
          <a:spcPct val="85000"/>
        </a:lnSpc>
        <a:spcBef>
          <a:spcPct val="0"/>
        </a:spcBef>
        <a:buNone/>
        <a:defRPr lang="en-US" sz="3200" b="1" kern="1200" spc="-28" baseline="0" dirty="0">
          <a:solidFill>
            <a:srgbClr val="003366"/>
          </a:solidFill>
          <a:latin typeface="+mj-lt"/>
          <a:ea typeface="+mj-ea"/>
          <a:cs typeface="Arial" pitchFamily="34" charset="-120"/>
        </a:defRPr>
      </a:lvl1pPr>
    </p:titleStyle>
    <p:bodyStyle>
      <a:lvl1pPr marL="180000" indent="-252000" algn="l" defTabSz="468000" rtl="0" eaLnBrk="1" latinLnBrk="0" hangingPunct="1">
        <a:lnSpc>
          <a:spcPct val="90000"/>
        </a:lnSpc>
        <a:spcBef>
          <a:spcPts val="600"/>
        </a:spcBef>
        <a:spcAft>
          <a:spcPts val="110"/>
        </a:spcAft>
        <a:buClr>
          <a:srgbClr val="003366"/>
        </a:buClr>
        <a:buSzPct val="100000"/>
        <a:buFont typeface="Calibri" panose="020F0502020204030204" pitchFamily="34" charset="0"/>
        <a:buChar char="◦"/>
        <a:defRPr lang="en-US" sz="2800" kern="1200">
          <a:solidFill>
            <a:srgbClr val="1F2933"/>
          </a:solidFill>
          <a:latin typeface="+mn-lt"/>
          <a:ea typeface="+mn-ea"/>
          <a:cs typeface="Arial" pitchFamily="34" charset="-120"/>
        </a:defRPr>
      </a:lvl1pPr>
      <a:lvl2pPr marL="360000" indent="-180000" algn="l" defTabSz="514350" rtl="0" eaLnBrk="1" latinLnBrk="0" hangingPunct="1">
        <a:lnSpc>
          <a:spcPct val="90000"/>
        </a:lnSpc>
        <a:spcBef>
          <a:spcPts val="100"/>
        </a:spcBef>
        <a:spcAft>
          <a:spcPts val="200"/>
        </a:spcAft>
        <a:buClr>
          <a:srgbClr val="003366"/>
        </a:buClr>
        <a:buFont typeface="Calibri" pitchFamily="34" charset="0"/>
        <a:buChar char="◦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144000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00" indent="-108000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4000" indent="-108000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618750" indent="-128588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sz="7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731250" indent="-128588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sz="7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843750" indent="-128588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sz="7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956250" indent="-128588" algn="l" defTabSz="514350" rtl="0" eaLnBrk="1" latinLnBrk="0" hangingPunct="1">
        <a:lnSpc>
          <a:spcPct val="90000"/>
        </a:lnSpc>
        <a:spcBef>
          <a:spcPts val="113"/>
        </a:spcBef>
        <a:spcAft>
          <a:spcPts val="225"/>
        </a:spcAft>
        <a:buClr>
          <a:schemeClr val="accent1"/>
        </a:buClr>
        <a:buFont typeface="Calibri" pitchFamily="34" charset="0"/>
        <a:buChar char="◦"/>
        <a:defRPr sz="7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89630"/>
            <a:ext cx="7772400" cy="724483"/>
          </a:xfrm>
        </p:spPr>
        <p:txBody>
          <a:bodyPr>
            <a:normAutofit/>
          </a:bodyPr>
          <a:lstStyle/>
          <a:p>
            <a:r>
              <a:rPr lang="hr-HR" sz="1600" noProof="0" dirty="0"/>
              <a:t>Tim:  TG </a:t>
            </a:r>
            <a:r>
              <a:rPr lang="hr-HR" sz="1600" noProof="0" dirty="0" err="1"/>
              <a:t>xx.x</a:t>
            </a:r>
            <a:r>
              <a:rPr lang="hr-HR" sz="1600" noProof="0" dirty="0"/>
              <a:t> &lt;Naziv tima&gt;</a:t>
            </a:r>
          </a:p>
          <a:p>
            <a:r>
              <a:rPr lang="hr-HR" noProof="0" dirty="0"/>
              <a:t>Ak. god. 202x./202x.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3891" y="3347538"/>
            <a:ext cx="8163274" cy="17453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/>
              <a:t>&lt;NAZIV VAŠEG projekta&gt;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</a:t>
            </a:r>
            <a:r>
              <a:rPr lang="hr-HR" dirty="0"/>
              <a:t>tima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Imena članova i odgovornosti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hr-HR" dirty="0"/>
              <a:t>Problem, cilj i opseg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sr-Latn-RS" altLang="sr-Latn-RS" dirty="0"/>
              <a:t>Ukratko: </a:t>
            </a:r>
            <a:r>
              <a:rPr lang="hr-HR" altLang="sr-Latn-RS" b="1" dirty="0"/>
              <a:t>Što aplikacija rješava?</a:t>
            </a:r>
          </a:p>
          <a:p>
            <a:pPr lvl="0"/>
            <a:r>
              <a:rPr lang="hr-HR" altLang="sr-Latn-RS" dirty="0"/>
              <a:t>Cilj: Glavna svrha i funkcionalnosti aplikacije.</a:t>
            </a:r>
          </a:p>
          <a:p>
            <a:pPr lvl="0"/>
            <a:r>
              <a:rPr lang="hr-HR" altLang="sr-Latn-RS" dirty="0"/>
              <a:t>Postoji li slično rješenje? Što je Vaša prednost?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b="1" dirty="0"/>
              <a:t>Glavni funkcionalni zahtjevi</a:t>
            </a:r>
            <a:r>
              <a:rPr lang="hr-HR" noProof="0" dirty="0"/>
              <a:t> (max. 1 slajd)</a:t>
            </a:r>
          </a:p>
          <a:p>
            <a:r>
              <a:rPr lang="hr-HR" noProof="0" dirty="0"/>
              <a:t>Nefunkcionalni i zahtjevi domene primjene (max. 1 slajd)</a:t>
            </a:r>
          </a:p>
          <a:p>
            <a:r>
              <a:rPr lang="hr-HR" i="1" noProof="0" dirty="0"/>
              <a:t>U usmenom izlaganju ukratko raspravite samo o primjerima glavnih izazova i povežite ih sa sljedećim slajdom dijagrama slučajeva upotrebe UML-a!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E1D33-6016-014F-7976-CC3BF83E4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Arhitektura i oblikovanje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 visokoj razini apstrakcije</a:t>
            </a:r>
          </a:p>
          <a:p>
            <a:r>
              <a:rPr lang="hr-HR" noProof="0" dirty="0"/>
              <a:t>Dijagram arhitekture (komponente, slojevi, povezivanje).</a:t>
            </a:r>
          </a:p>
          <a:p>
            <a:r>
              <a:rPr lang="hr-HR" i="1" noProof="0" dirty="0"/>
              <a:t>Po potrebi: UML dijagram razreda i razmještaja.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D4C9-9432-BF61-832B-7FB04759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Podaci i ponašanje sustava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0D3E-2EED-3326-655D-2789B699D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01372-C780-CA1B-B2F1-A39236E77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306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Tehnologije i tehničke odluke</a:t>
            </a:r>
            <a:endParaRPr lang="hr-HR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Ključne tehnologije</a:t>
            </a:r>
          </a:p>
          <a:p>
            <a:pPr lvl="1"/>
            <a:r>
              <a:rPr lang="hr-HR" dirty="0"/>
              <a:t>programski jezici i radni okviri</a:t>
            </a:r>
          </a:p>
          <a:p>
            <a:pPr lvl="1"/>
            <a:r>
              <a:rPr lang="hr-HR" dirty="0"/>
              <a:t>baza podataka i vanjske usluge</a:t>
            </a:r>
          </a:p>
          <a:p>
            <a:pPr lvl="1"/>
            <a:r>
              <a:rPr lang="hr-HR" dirty="0"/>
              <a:t>platforma za postavljanje aplikacije</a:t>
            </a:r>
          </a:p>
          <a:p>
            <a:pPr lvl="1"/>
            <a:r>
              <a:rPr lang="hr-HR" dirty="0"/>
              <a:t>alati za ispitivanje, ako su važni za razumijevanje rješenja</a:t>
            </a:r>
          </a:p>
          <a:p>
            <a:pPr lvl="1"/>
            <a:endParaRPr lang="hr-HR" noProof="0" dirty="0"/>
          </a:p>
          <a:p>
            <a:r>
              <a:rPr lang="hr-HR" noProof="0" dirty="0"/>
              <a:t>Smještaj aplikacije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8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Ispitivanje i rezultati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Organizacija ispitivanja</a:t>
            </a:r>
          </a:p>
          <a:p>
            <a:pPr lvl="1"/>
            <a:r>
              <a:rPr lang="hr-HR" dirty="0"/>
              <a:t>koje ste razine ili vrste ispitivanja proveli</a:t>
            </a:r>
            <a:endParaRPr lang="hr-HR" noProof="0" dirty="0"/>
          </a:p>
          <a:p>
            <a:r>
              <a:rPr lang="hr-HR" noProof="0" dirty="0"/>
              <a:t>Fokus ispitivanja. </a:t>
            </a:r>
          </a:p>
          <a:p>
            <a:r>
              <a:rPr lang="hr-HR" noProof="0" dirty="0"/>
              <a:t>Potpunost ispitivanja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72CF-149C-7209-C6B8-942689F36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Demonstracija 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3F9B-83B4-FD6A-1F46-257C376D0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</a:t>
            </a:r>
          </a:p>
          <a:p>
            <a:r>
              <a:rPr lang="hr-HR" dirty="0"/>
              <a:t>1–2 korisnička scenarija početna točka i očekivani rezultat</a:t>
            </a:r>
          </a:p>
          <a:p>
            <a:pPr lvl="0"/>
            <a:r>
              <a:rPr lang="hr-HR" dirty="0"/>
              <a:t>po potrebi jedan važan izazov ili posebnost implementacije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2502E-5D7B-B35E-9FDD-890F5723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6664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0798-65F4-B310-D3BE-BA68198A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Stanje projekta i ograničenja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00D53-17F1-EC09-4EE8-B53BC67E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dirty="0"/>
              <a:t>glavne funkcionalnosti koje su dovršene</a:t>
            </a:r>
          </a:p>
          <a:p>
            <a:pPr lvl="0"/>
            <a:r>
              <a:rPr lang="hr-HR" dirty="0"/>
              <a:t>ono što je djelomično dovršeno ili nije ostvareno</a:t>
            </a:r>
          </a:p>
          <a:p>
            <a:pPr lvl="0"/>
            <a:r>
              <a:rPr lang="hr-HR" dirty="0"/>
              <a:t>2–3 najvažnija tehnička ili projektna ograničenja</a:t>
            </a:r>
          </a:p>
          <a:p>
            <a:pPr lvl="0"/>
            <a:r>
              <a:rPr lang="hr-HR" dirty="0"/>
              <a:t>po potrebi: što bi bio prvi sljedeći korak razvoja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1503B-1D50-4BD5-B835-820217FB2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00181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Neprogramski (organizacijski) zadaci</a:t>
            </a:r>
          </a:p>
          <a:p>
            <a:pPr lvl="1"/>
            <a:r>
              <a:rPr lang="hr-HR" noProof="0" dirty="0"/>
              <a:t>Organizacija komunikacije (korištene platforme/SW ....)</a:t>
            </a:r>
          </a:p>
          <a:p>
            <a:pPr lvl="1"/>
            <a:r>
              <a:rPr lang="hr-HR" noProof="0" dirty="0"/>
              <a:t>GitHub iskustvo</a:t>
            </a:r>
          </a:p>
          <a:p>
            <a:pPr lvl="1"/>
            <a:endParaRPr lang="hr-HR" noProof="0" dirty="0"/>
          </a:p>
          <a:p>
            <a:pPr lvl="1"/>
            <a:r>
              <a:rPr lang="hr-HR" noProof="0" dirty="0"/>
              <a:t>Primijenjeni model životnog ciklusa</a:t>
            </a:r>
          </a:p>
          <a:p>
            <a:pPr lvl="1"/>
            <a:r>
              <a:rPr lang="hr-HR" noProof="0" dirty="0"/>
              <a:t>ad-hoc, vodopadni,….</a:t>
            </a:r>
          </a:p>
          <a:p>
            <a:r>
              <a:rPr lang="hr-HR" noProof="0" dirty="0"/>
              <a:t>Tablica raščlambe zadataka članova s procijenjenim naporom u satima (jedan slajd)</a:t>
            </a:r>
          </a:p>
          <a:p>
            <a:pPr lvl="1"/>
            <a:r>
              <a:rPr lang="hr-HR" i="1" noProof="0" dirty="0"/>
              <a:t>U usmenom izlaganju samo diskutirajte o glavnim problemima rasporeda i svom iskustvu za njihovo rješavanje (npr. preuzimanje zadataka drugih članova ...)</a:t>
            </a:r>
          </a:p>
          <a:p>
            <a:r>
              <a:rPr lang="hr-HR" noProof="0" dirty="0"/>
              <a:t>Vremenski okvir razvoja (specifikacija, implementacija, testiranje, dokumentacija)</a:t>
            </a:r>
          </a:p>
          <a:p>
            <a:pPr lvl="1"/>
            <a:r>
              <a:rPr lang="hr-HR" noProof="0" dirty="0"/>
              <a:t>Poželjan grafički prikaz</a:t>
            </a:r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Naučene lekcije</a:t>
            </a:r>
          </a:p>
          <a:p>
            <a:pPr lvl="1"/>
            <a:r>
              <a:rPr lang="hr-HR" noProof="0" dirty="0"/>
              <a:t>Što je bilo dobro, a što je moglo bolje</a:t>
            </a:r>
          </a:p>
          <a:p>
            <a:pPr lvl="1"/>
            <a:r>
              <a:rPr lang="pl-PL" noProof="0"/>
              <a:t>Što biste u sljedećem projektu napravili drugačije </a:t>
            </a:r>
            <a:r>
              <a:rPr lang="hr-HR" noProof="0">
                <a:sym typeface="Wingdings" panose="05000000000000000000" pitchFamily="2" charset="2"/>
              </a:rPr>
              <a:t></a:t>
            </a:r>
            <a:endParaRPr lang="hr-HR" noProof="0" dirty="0">
              <a:sym typeface="Wingdings" panose="05000000000000000000" pitchFamily="2" charset="2"/>
            </a:endParaRPr>
          </a:p>
          <a:p>
            <a:pPr lvl="1"/>
            <a:endParaRPr lang="hr-HR" noProof="0" dirty="0">
              <a:sym typeface="Wingdings" panose="05000000000000000000" pitchFamily="2" charset="2"/>
            </a:endParaRP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i="1" noProof="0" dirty="0"/>
              <a:t>Nekoliko savjeta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10-15 slajdova je sasvim dovoljno – istaknite samo najvažnije činjenice</a:t>
            </a:r>
          </a:p>
          <a:p>
            <a:r>
              <a:rPr lang="hr-HR" noProof="0" dirty="0"/>
              <a:t>Prezentaciju možete grafički urediti prema svojem nahođenju uz ograničenja:</a:t>
            </a:r>
          </a:p>
          <a:p>
            <a:pPr lvl="1"/>
            <a:r>
              <a:rPr lang="hr-HR" noProof="0" dirty="0"/>
              <a:t>Obavezan sadržaj naslovne stranice</a:t>
            </a:r>
          </a:p>
          <a:p>
            <a:pPr lvl="1"/>
            <a:r>
              <a:rPr lang="hr-HR" noProof="0" dirty="0"/>
              <a:t>Obavezni brojevi stranica</a:t>
            </a:r>
          </a:p>
          <a:p>
            <a:r>
              <a:rPr lang="hr-HR" b="1" noProof="0" dirty="0"/>
              <a:t>Priprema izlaganja na satu:</a:t>
            </a:r>
          </a:p>
          <a:p>
            <a:pPr lvl="1"/>
            <a:r>
              <a:rPr lang="hr-HR" noProof="0" dirty="0"/>
              <a:t>Pokrenite sve potrebne programe i alate na računalu prije početka Vašeg izlaganja te provjerite kompatibilnost opreme!</a:t>
            </a:r>
          </a:p>
          <a:p>
            <a:pPr lvl="2"/>
            <a:r>
              <a:rPr lang="hr-HR" dirty="0"/>
              <a:t>Standardni HDMI priključak. Eduraom.</a:t>
            </a:r>
            <a:endParaRPr lang="hr-HR" noProof="0" dirty="0"/>
          </a:p>
          <a:p>
            <a:pPr lvl="1"/>
            <a:r>
              <a:rPr lang="pl-PL" dirty="0"/>
              <a:t>Vježbati izlaganje u 15 minuta.</a:t>
            </a:r>
          </a:p>
          <a:p>
            <a:pPr lvl="1"/>
            <a:r>
              <a:rPr lang="hr-HR" b="1" noProof="0" dirty="0"/>
              <a:t>Poštujte zadani vremenski okvir!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641737146"/>
      </p:ext>
    </p:extLst>
  </p:cSld>
  <p:clrMapOvr>
    <a:masterClrMapping/>
  </p:clrMapOvr>
</p:sld>
</file>

<file path=ppt/theme/theme1.xml><?xml version="1.0" encoding="utf-8"?>
<a:theme xmlns:a="http://schemas.openxmlformats.org/drawingml/2006/main" name="Msc_Theme_v2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sc_Theme_v2" id="{33DB65BF-8790-44BD-B7E8-D5C49A7E9B8A}" vid="{0049FB60-658F-40E4-A9B4-1C3A4F429A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Predlozak_prezentacije_MSc_rada_v2</Template>
  <TotalTime>1257</TotalTime>
  <Words>760</Words>
  <Application>Microsoft Office PowerPoint</Application>
  <PresentationFormat>On-screen Show (4:3)</PresentationFormat>
  <Paragraphs>115</Paragraphs>
  <Slides>14</Slides>
  <Notes>12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Lato</vt:lpstr>
      <vt:lpstr>Wingdings</vt:lpstr>
      <vt:lpstr>Msc_Theme_v2</vt:lpstr>
      <vt:lpstr>&lt;NAZIV VAŠEG projekta&gt;</vt:lpstr>
      <vt:lpstr>Članovi tima</vt:lpstr>
      <vt:lpstr>Problem, cilj i opseg</vt:lpstr>
      <vt:lpstr>Pregled zahtjeva</vt:lpstr>
      <vt:lpstr>UML dijagram obrazaca uporabe</vt:lpstr>
      <vt:lpstr>Arhitektura i oblikovanje</vt:lpstr>
      <vt:lpstr>Podaci i ponašanje sustava </vt:lpstr>
      <vt:lpstr>Tehnologije i tehničke odluke</vt:lpstr>
      <vt:lpstr>Ispitivanje i rezultati</vt:lpstr>
      <vt:lpstr>Demonstracija aplikacije</vt:lpstr>
      <vt:lpstr>Stanje projekta i ograničenja</vt:lpstr>
      <vt:lpstr>Organizacija rada</vt:lpstr>
      <vt:lpstr>Zaključak</vt:lpstr>
      <vt:lpstr>Nekoliko savjeta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Vlado Sruk</dc:creator>
  <cp:keywords>Prezentacija, Programsko inženjerstvo, Software engineering</cp:keywords>
  <cp:lastModifiedBy>Vlado Sruk</cp:lastModifiedBy>
  <cp:revision>19</cp:revision>
  <dcterms:created xsi:type="dcterms:W3CDTF">2016-01-18T13:10:52Z</dcterms:created>
  <dcterms:modified xsi:type="dcterms:W3CDTF">2026-10-02T11:17:41Z</dcterms:modified>
</cp:coreProperties>
</file>